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34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SimHei"/>
              </a:rPr>
              <a:t>华南师范大学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7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CCD5E8"/>
                </a:solidFill>
                <a:latin typeface="Microsoft YaHei"/>
              </a:rPr>
              <a:t>人工智能学院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260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imHei"/>
              </a:rPr>
              <a:t>基于代理模型与改进粒子群算法的
F1 赛车气动稳定性优化研究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232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</a:rPr>
              <a:t>《计算智能》课程设计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0000" y="2088000"/>
            <a:ext cx="900000" cy="21600"/>
          </a:xfrm>
          <a:prstGeom prst="rect">
            <a:avLst/>
          </a:prstGeom>
          <a:solidFill>
            <a:srgbClr val="E8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3060000"/>
            <a:ext cx="34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CCD5E8"/>
                </a:solidFill>
                <a:latin typeface="Microsoft YaHei"/>
              </a:rPr>
              <a:t>汇报人：陈新安 (202440012028)　郑骏远 (202440012047)
2025—2026 学年第二学期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34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imHei"/>
              </a:rPr>
              <a:t>CONTENTS  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0000" y="648000"/>
            <a:ext cx="900000" cy="21600"/>
          </a:xfrm>
          <a:prstGeom prst="rect">
            <a:avLst/>
          </a:prstGeom>
          <a:solidFill>
            <a:srgbClr val="E8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07999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01  研究背景与问题定义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440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02  数据分析与预处理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871999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03  技术路线总览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304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04  代理模型构建与对比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736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05  粒子群优化算法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168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06  风险敏感 PSO 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600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07  主动学习迭代精炼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2000" y="1007999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08  多场景优化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2000" y="1440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09  Pareto 前沿与可解释性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2000" y="1871999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10  景观诊断核心发现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2000" y="2304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11  Porpoising 风险分析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2000" y="2736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12  消融实验与鲁棒性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2000" y="3168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13  量化指标汇总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2000" y="3600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  14  创新点总结与结论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研究背景与问题定义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Background &amp; 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48000"/>
            <a:ext cx="2448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720000"/>
            <a:ext cx="2232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E8642D"/>
                </a:solidFill>
                <a:latin typeface="Microsoft YaHei"/>
              </a:rPr>
              <a:t>2022 FIA 引入"地面效应"规则 → 三大核心矛盾：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B5CD9"/>
                </a:solidFill>
                <a:latin typeface="Microsoft YaHei"/>
              </a:rPr>
              <a:t>① 规则约束 (ATR 配额)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  CFD 仿真时长和计算资源受严格配额，传统高精度仿真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  在有限周期内难以覆盖大规模参数空间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B5CD9"/>
                </a:solidFill>
                <a:latin typeface="Microsoft YaHei"/>
              </a:rPr>
              <a:t>② 瞬态非线性 ("海豚跳")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  车速、翼角、DRS 多参数共振耦合，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  传统方法难以捕捉强非线性特性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B5CD9"/>
                </a:solidFill>
                <a:latin typeface="Microsoft YaHei"/>
              </a:rPr>
              <a:t>③ 数据不平衡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  高稳定性样本占 86.02%，低稳定性样本稀缺，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  ML 建模面临严重偏置风险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8000" y="648000"/>
            <a:ext cx="1800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44000" y="720000"/>
            <a:ext cx="1728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E8642D"/>
                </a:solidFill>
                <a:latin typeface="Microsoft YaHei"/>
              </a:rPr>
              <a:t>  研究目标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x* = arg max [ μ(x) - λ·σ(x)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           x∈X      - P(x) ]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μ(x): DeepEnsemble 预测均值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σ(x): 预测不确定度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λ:    风险厌恶系数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P(x): 场景软约束惩罚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目标: 数据驱动代理模型 +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B5CD9"/>
                </a:solidFill>
                <a:latin typeface="Microsoft YaHei"/>
              </a:rPr>
              <a:t>      智能优化框架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数据分析与预处理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Dataset &amp;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48000"/>
            <a:ext cx="2340000" cy="136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84000"/>
            <a:ext cx="2232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数据集: Kaggle F1 Aerodynamic Stability (~150k 样本)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清洗后: 104,999 条有效样本  5 输入 → 1 输出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特征: speed_kmh, wing_angle_deg, drs_active,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    downforce_n, drag_n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目标: stability_index (0-100, 越大越稳定)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数据不平衡: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  稳定 (≥95): 86.02%   不稳定 (&lt;95): 13.98%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类平衡加权损失函数应对 (severe 权重 3.92×)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预处理: StandardScaler/MinMaxScaler → 7:1.5:1.5 分割</a:t>
            </a:r>
          </a:p>
        </p:txBody>
      </p:sp>
      <p:pic>
        <p:nvPicPr>
          <p:cNvPr id="7" name="Picture 6" descr="01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000" y="648000"/>
            <a:ext cx="1980000" cy="1341723"/>
          </a:xfrm>
          <a:prstGeom prst="rect">
            <a:avLst/>
          </a:prstGeom>
        </p:spPr>
      </p:pic>
      <p:pic>
        <p:nvPicPr>
          <p:cNvPr id="8" name="Picture 7" descr="02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2196000"/>
            <a:ext cx="1551020" cy="136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60000" y="270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特征相关系数矩阵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技术路线总览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Technical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792000"/>
            <a:ext cx="900000" cy="4320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SimHei"/>
              </a:rPr>
              <a:t>数据
预处理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60000" y="792000"/>
            <a:ext cx="900000" cy="4320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SimHei"/>
              </a:rPr>
              <a:t>EDA
探索分析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0000" y="792000"/>
            <a:ext cx="900000" cy="4320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SimHei"/>
              </a:rPr>
              <a:t>6 模型
代理对比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980000"/>
            <a:ext cx="900000" cy="4320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SimHei"/>
              </a:rPr>
              <a:t>风险敏感
PSO 寻优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8000" y="1980000"/>
            <a:ext cx="900000" cy="4320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SimHei"/>
              </a:rPr>
              <a:t>主动学习
迭代精炼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1999" y="1980000"/>
            <a:ext cx="827999" cy="432000"/>
          </a:xfrm>
          <a:prstGeom prst="round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SimHei"/>
              </a:rPr>
              <a:t>Porpoising
风险分析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0000" y="1980000"/>
            <a:ext cx="827999" cy="432000"/>
          </a:xfrm>
          <a:prstGeom prst="round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SimHei"/>
              </a:rPr>
              <a:t>多场景 +
SHAP 可解释性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2880000"/>
            <a:ext cx="792000" cy="360000"/>
          </a:xfrm>
          <a:prstGeom prst="roundRect">
            <a:avLst/>
          </a:prstGeom>
          <a:solidFill>
            <a:srgbClr val="446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SimHei"/>
              </a:rPr>
              <a:t>消融实验
可视化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2880000"/>
            <a:ext cx="792000" cy="360000"/>
          </a:xfrm>
          <a:prstGeom prst="roundRect">
            <a:avLst/>
          </a:prstGeom>
          <a:solidFill>
            <a:srgbClr val="446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SimHei"/>
              </a:rPr>
              <a:t>结题报告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000" y="3384000"/>
            <a:ext cx="1080000" cy="216000"/>
          </a:xfrm>
          <a:prstGeom prst="roundRect">
            <a:avLst/>
          </a:prstGeom>
          <a:solidFill>
            <a:srgbClr val="E8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Microsoft YaHei"/>
              </a:rPr>
              <a:t>① 风险敏感PSO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2000" y="3384000"/>
            <a:ext cx="1080000" cy="216000"/>
          </a:xfrm>
          <a:prstGeom prst="roundRect">
            <a:avLst/>
          </a:prstGeom>
          <a:solidFill>
            <a:srgbClr val="E8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Microsoft YaHei"/>
              </a:rPr>
              <a:t>② 主动学习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84000" y="3384000"/>
            <a:ext cx="1080000" cy="216000"/>
          </a:xfrm>
          <a:prstGeom prst="roundRect">
            <a:avLst/>
          </a:prstGeom>
          <a:solidFill>
            <a:srgbClr val="E8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Microsoft YaHei"/>
              </a:rPr>
              <a:t>③ Porpoising热力图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6000" y="3384000"/>
            <a:ext cx="1080000" cy="216000"/>
          </a:xfrm>
          <a:prstGeom prst="roundRect">
            <a:avLst/>
          </a:prstGeom>
          <a:solidFill>
            <a:srgbClr val="E8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Microsoft YaHei"/>
              </a:rPr>
              <a:t>④ 多场景可解释性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0000" y="3636000"/>
            <a:ext cx="1080000" cy="216000"/>
          </a:xfrm>
          <a:prstGeom prst="round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Microsoft YaHei"/>
              </a:rPr>
              <a:t>⑤ 6模型对比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32000" y="3636000"/>
            <a:ext cx="1080000" cy="216000"/>
          </a:xfrm>
          <a:prstGeom prst="round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Microsoft YaHei"/>
              </a:rPr>
              <a:t>⑥ 参数区域发现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4000" y="3636000"/>
            <a:ext cx="1080000" cy="216000"/>
          </a:xfrm>
          <a:prstGeom prst="round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Microsoft YaHei"/>
              </a:rPr>
              <a:t>⑦ 多目标Pareto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36000" y="3636000"/>
            <a:ext cx="1080000" cy="216000"/>
          </a:xfrm>
          <a:prstGeom prst="round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Microsoft YaHei"/>
              </a:rPr>
              <a:t>⑧ Landscape Diagnosis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代理模型构建与对比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Surrogate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48000"/>
            <a:ext cx="2268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84000"/>
            <a:ext cx="20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3A6B"/>
                </a:solidFill>
                <a:latin typeface="Microsoft YaHei"/>
              </a:rPr>
              <a:t>6 模型性能对比 (测试集)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8000" y="1007999"/>
          <a:ext cx="2088000" cy="100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360000"/>
                <a:gridCol w="360000"/>
                <a:gridCol w="360000"/>
                <a:gridCol w="360000"/>
              </a:tblGrid>
              <a:tr h="14399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延迟(ms)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143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M1 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0.6330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225.00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0.034</a:t>
                      </a:r>
                    </a:p>
                  </a:txBody>
                  <a:tcPr/>
                </a:tc>
              </a:tr>
              <a:tr h="143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M2 RandomForest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0.0006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37.07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43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M3 XGBoost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0.242</a:t>
                      </a:r>
                    </a:p>
                  </a:txBody>
                  <a:tcPr/>
                </a:tc>
              </a:tr>
              <a:tr h="143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M4 MLP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0.9994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0.3897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0.3882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0.403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43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M5 TabNet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0.3602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7.847</a:t>
                      </a:r>
                    </a:p>
                  </a:txBody>
                  <a:tcPr/>
                </a:tc>
              </a:tr>
              <a:tr h="14400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M6 DeepEnsemble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0.9995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0.3272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0.2712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1.230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8000" y="2124000"/>
            <a:ext cx="208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策略选择: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XGBoost (M3) → SHAP 可解释性分析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E8642D"/>
                </a:solidFill>
                <a:latin typeface="Microsoft YaHei"/>
              </a:rPr>
              <a:t>    TreeExplainer 精确快速，R²=0.9999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DeepEnsemble (M6) → PSO 寻优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E8642D"/>
                </a:solidFill>
                <a:latin typeface="Microsoft YaHei"/>
              </a:rPr>
              <a:t>    提供 μ(x) 预测均值 + σ(x) 不确定度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  3 个独立 MLP，仅种子和数据顺序不同</a:t>
            </a:r>
          </a:p>
        </p:txBody>
      </p:sp>
      <p:pic>
        <p:nvPicPr>
          <p:cNvPr id="9" name="Picture 8" descr="0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000" y="648000"/>
            <a:ext cx="1980000" cy="6766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粒子群优化算法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PSO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48000"/>
            <a:ext cx="2340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84000"/>
            <a:ext cx="223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E8642D"/>
                </a:solidFill>
                <a:latin typeface="Microsoft YaHei"/>
              </a:rPr>
              <a:t>标准 PSO 公式: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vᵢᵗ⁺¹ = w·vᵢᵗ + c₁r₁(pᵢ - xᵢᵗ) + c₂r₂(g - xᵢᵗ)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xᵢᵗ⁺¹ = xᵢᵗ + vᵢᵗ⁺¹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2B5CD9"/>
                </a:solidFill>
                <a:latin typeface="Microsoft YaHei"/>
              </a:rPr>
              <a:t>自适应惯性权重: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w(t) = 0.9 - (0.9-0.4) × t/Tmax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早期大 w → 全局探索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后期小 w → 局部精细搜索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2B5CD9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PSO 配置: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粒子数 N=50  最大迭代 Tmax=80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学习因子 c₁=2.0  c₂=1.5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收敛判定 stall ≥ 12 代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风险系数 λ=1.0 (中等风险厌恶)</a:t>
            </a:r>
          </a:p>
        </p:txBody>
      </p:sp>
      <p:pic>
        <p:nvPicPr>
          <p:cNvPr id="7" name="Picture 6" descr="05_pso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00" y="720000"/>
            <a:ext cx="1908000" cy="11037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风险敏感 PSO 创新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Risk-Sensitive PSO — Innovation ①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48000"/>
            <a:ext cx="2340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84000"/>
            <a:ext cx="223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E8642D"/>
                </a:solidFill>
                <a:latin typeface="Microsoft YaHei"/>
              </a:rPr>
              <a:t>核心公式: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  Fitness(x) = μ(x) - λ·σ(x) - P_scenario(x)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利用 DeepEnsemble 不确定性估计能力: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① OOD 防护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  σ(x) 在分布外增大 → 惩罚使粒子回归可靠区域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② 不平衡缓解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  低稳定性区 σ(x) 更高 → 避免追求名义高分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③ 幻觉抑制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  λσ(x) 阻止虚假高分: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8642D"/>
                </a:solidFill>
                <a:latin typeface="Microsoft YaHei"/>
              </a:rPr>
              <a:t>  λ=0 → 适应度 101.30 (超理论限 100! = 幻觉)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λ=1 → 适应度 99.83  (物理合理区间)</a:t>
            </a:r>
          </a:p>
        </p:txBody>
      </p:sp>
      <p:pic>
        <p:nvPicPr>
          <p:cNvPr id="7" name="Picture 6" descr="lambda_vs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000" y="648000"/>
            <a:ext cx="1872000" cy="1155770"/>
          </a:xfrm>
          <a:prstGeom prst="rect">
            <a:avLst/>
          </a:prstGeom>
        </p:spPr>
      </p:pic>
      <p:pic>
        <p:nvPicPr>
          <p:cNvPr id="8" name="Picture 7" descr="06_best_fitness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000" y="1872000"/>
            <a:ext cx="1872000" cy="11163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主动学习迭代精炼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Active Learning — Innovation ②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48000"/>
            <a:ext cx="2520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84000"/>
            <a:ext cx="2412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E8642D"/>
                </a:solidFill>
                <a:latin typeface="Microsoft YaHei"/>
              </a:rPr>
              <a:t>闭环机制: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PSO 搜索 → 不确定性反馈 → 数据增强 → 模型重训练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2B5CD9"/>
                </a:solidFill>
                <a:latin typeface="Microsoft YaHei"/>
              </a:rPr>
              <a:t>浅层一轮后处理精炼效果: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指标         精炼前    精炼后      变化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R²           0.9995    0.9998    +0.03%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MSE          0.3272    0.1444    -55.9% ★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MAE          0.2712    0.1678    -38.1%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RMSE         0.5720    0.3800    -33.6%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E8642D"/>
                </a:solidFill>
                <a:latin typeface="Microsoft YaHei"/>
              </a:rPr>
              <a:t>PSO 收敛加速: 37 → 18 代 (提升 2.1×)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推理加速:     114 → 73ms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B5CD9"/>
                </a:solidFill>
                <a:latin typeface="Microsoft YaHei"/>
              </a:rPr>
              <a:t>一轮精炼 = MSE 降 55.9% + 收敛快 2.1 倍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证明 "PSO→反馈→改进" 闭环有效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648000"/>
            <a:ext cx="1728000" cy="10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51999" y="720000"/>
            <a:ext cx="1584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Top-5 高不确定性候选解特征: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下压力: 6000-9000N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σ(x): 31-38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对应训练数据中极少出现的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极端工况 (OOD 区域)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主动学习通过补充 OOD 样本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有效降低极端工况下的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预测不确定性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多场景优化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Multi-Scenario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48000"/>
            <a:ext cx="2448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84000"/>
            <a:ext cx="23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E8642D"/>
                </a:solidFill>
                <a:latin typeface="Microsoft YaHei"/>
              </a:rPr>
              <a:t>四组典型 F1 赛道工况: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S1 Monza:  [280-360km/h] [0-15°] DRS=1  极速低翼角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S2 Monaco: [80-200km/h]  [20-40°] DRS=0  窄街高下压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S3 均衡:   [200-280km/h] [10-30°] 自由    中速均衡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S4 湿地:   [100-250km/h] [15-35°] DRS=0  湿地保守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多目标适应度 (v2):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F = w₁×stab/100 + w₂×eff - w₃×power - λσ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权重配置: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S1: (0.4, 0.3, 0.3) → 偏效率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S2: (0.5, 0.4, 0.1) → 高稳定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S3: (0.4, 0.4, 0.2) → 均衡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S4: (0.6, 0.2, 0.2) → 稳定优先</a:t>
            </a:r>
          </a:p>
        </p:txBody>
      </p:sp>
      <p:pic>
        <p:nvPicPr>
          <p:cNvPr id="7" name="Picture 6" descr="07_scenario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000" y="648000"/>
            <a:ext cx="1800000" cy="1574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Pareto 前沿与多目标收敛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Pareto Frontier &amp;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48000"/>
            <a:ext cx="2088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84000"/>
            <a:ext cx="198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E8642D"/>
                </a:solidFill>
                <a:latin typeface="Microsoft YaHei"/>
              </a:rPr>
              <a:t>多目标 vs 单目标关键差异: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  单目标 (v1):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  4 场景适应度 99.74~99.83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  区分度仅 0.1%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  → 景观过平, PSO 无价值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E8642D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多目标 (v2):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  4 场景适应度 0.685~0.894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  区分度 &gt; 23%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  → 景观激活, PSO 有意义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Pareto 前沿: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非支配解 → stability / efficiency / power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各场景因权重不同趋于不同目标空间区域</a:t>
            </a:r>
          </a:p>
        </p:txBody>
      </p:sp>
      <p:pic>
        <p:nvPicPr>
          <p:cNvPr id="7" name="Picture 6" descr="pareto_frontier_S1_mon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000" y="648000"/>
            <a:ext cx="2088000" cy="824990"/>
          </a:xfrm>
          <a:prstGeom prst="rect">
            <a:avLst/>
          </a:prstGeom>
        </p:spPr>
      </p:pic>
      <p:pic>
        <p:nvPicPr>
          <p:cNvPr id="8" name="Picture 7" descr="convergence_multiob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000" y="1728000"/>
            <a:ext cx="2088000" cy="12370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SHAP 可解释性与约束灵敏度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SHAP &amp; Sensitivity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0"/>
            <a:ext cx="2340000" cy="12833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28000" y="648000"/>
            <a:ext cx="1980000" cy="144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0" y="720000"/>
            <a:ext cx="180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8642D"/>
                </a:solidFill>
                <a:latin typeface="Microsoft YaHei"/>
              </a:rPr>
              <a:t>SHAP 全局发现: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downforce: mean|SHAP|=12.20 (96%)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drag:      0.30 (2.4%)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wing:      0.15 (1.2%)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speed:     0.07 (0.6%)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drs:       0.01 (&lt;0.1%)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排列重要性验证: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打乱 downforce → R² 下降 1.88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其余特征打乱后 R² 几乎不变</a:t>
            </a:r>
          </a:p>
        </p:txBody>
      </p:sp>
      <p:pic>
        <p:nvPicPr>
          <p:cNvPr id="8" name="Picture 7" descr="11_sensitivity_torn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2160000"/>
            <a:ext cx="2160000" cy="10737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20000" y="2160000"/>
            <a:ext cx="2088000" cy="10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2000" y="2232000"/>
            <a:ext cx="194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约束灵敏度 (各场景瓶颈):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S1 Monza:  速度下界 (Δ=0.045) ← 最大瓶颈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S2 Monaco: 翼角下界 (Δ=0.017)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S3 均衡:   四约束均匀 (Δ≈0.015)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  S4 湿地:   翼角上界 (Δ=0.011)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景观诊断核心发现  ⭐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Landscape Diagnosis —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576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8642D"/>
                </a:solidFill>
                <a:latin typeface="Microsoft YaHei"/>
              </a:rPr>
              <a:t>一图三结论 — 无需 SHAP/PI/偏相关前置知识即可理解</a:t>
            </a:r>
          </a:p>
        </p:txBody>
      </p:sp>
      <p:pic>
        <p:nvPicPr>
          <p:cNvPr id="6" name="Picture 5" descr="diagnosis_speed_wing_pso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56000"/>
            <a:ext cx="3322926" cy="208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80000" y="2951999"/>
            <a:ext cx="4428000" cy="90000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2988000"/>
            <a:ext cx="4212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① ✅ 模型感知 wing — 等高线在右下角 (高速+大翼角) 可测量地下沉 (stability 55→85)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② ✅ PSO 正确避开低稳定区 — 红色散点 (Top-5% 候选解) 全部集中在左上角安全区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③ ✅ 高稳定盆地内 wing 无区分度 — PSO 聚集区等高线近乎水平, wing 20°→35° 几乎不改变预测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E8642D"/>
                </a:solidFill>
                <a:latin typeface="Microsoft YaHei"/>
              </a:rPr>
              <a:t>代理模型在高稳定性区输出已饱和 ← 数据驱动必然结果 (86% 样本 stability≥99)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景观多峰性验证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Landscape Multimodality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ndscape_multimod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0"/>
            <a:ext cx="2520000" cy="21640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808000" y="648000"/>
            <a:ext cx="1800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0" y="720000"/>
            <a:ext cx="1655999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8642D"/>
                </a:solidFill>
                <a:latin typeface="Microsoft YaHei"/>
              </a:rPr>
              <a:t>论证链: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单目标 PCA (左上):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一个黄色大簇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→ 景观过平, PSO 无意义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E8642D"/>
                </a:solidFill>
                <a:latin typeface="Microsoft YaHei"/>
              </a:rPr>
              <a:t>多目标 PCA (右上):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两个分散黄色区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→ 多峰结构 ↔ PSO 合理性 ✓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t-SNE (左下):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二次验证多峰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消除 PCA 线性投影偏误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E8642D"/>
                </a:solidFill>
                <a:latin typeface="Microsoft YaHei"/>
              </a:rPr>
              <a:t>目标空间 KDE (右下):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Pareto 前沿形态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为多场景差异化搜索提供基础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10 万点随机采样 → 纯景观探索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(不运行 PSO)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Speed×Wing 交互: 梯度在高速+大翼角达峰值 0.63, 但 PSO 自然避开此区域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24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翼角敏感性: ΔStability≈2 (345km/h, 非饱和区), 模型正确学习 wing↑→stability↓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Porpoising 海豚跳风险分析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Porpoising Risk — Innovation ③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risk_heatmap_dr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0"/>
            <a:ext cx="2232000" cy="15702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20000" y="648000"/>
            <a:ext cx="2088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92000" y="720000"/>
            <a:ext cx="1944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8642D"/>
                </a:solidFill>
                <a:latin typeface="Microsoft YaHei"/>
              </a:rPr>
              <a:t>一阶梯度风险度量: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Risk = ||∇f(v, α)||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(PyTorch 自动微分)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关键发现: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Zone A (高速+小翼角):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  平均风险 0.0013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Zone B (低速+大翼角):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  平均风险 0.0002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Zone A 风险 = 6.5× Zone B ✓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(符合 F1 空气动力学直觉)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DRS 开启 → 整体风险 ↑ ~1.01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二阶 Hessian 曲率: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70% 网格点呈凹性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曲率幅度极低 (~0.03)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→ MLP 在高稳定性区极度平坦</a:t>
            </a:r>
          </a:p>
        </p:txBody>
      </p:sp>
      <p:pic>
        <p:nvPicPr>
          <p:cNvPr id="8" name="Picture 7" descr="13_risk_heatmap_dr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2232000"/>
            <a:ext cx="1007999" cy="709164"/>
          </a:xfrm>
          <a:prstGeom prst="rect">
            <a:avLst/>
          </a:prstGeom>
        </p:spPr>
      </p:pic>
      <p:pic>
        <p:nvPicPr>
          <p:cNvPr id="9" name="Picture 8" descr="risk_vs_optimal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000" y="2232000"/>
            <a:ext cx="1152000" cy="4446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消融实验与鲁棒性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Ablation &amp;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48000"/>
            <a:ext cx="2340000" cy="208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84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3A6B"/>
                </a:solidFill>
                <a:latin typeface="Microsoft YaHei"/>
              </a:rPr>
              <a:t>组件消融 (以 Exp-2 风险敏感为基线)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8000" y="936000"/>
          <a:ext cx="2088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432000"/>
                <a:gridCol w="468000"/>
                <a:gridCol w="468000"/>
              </a:tblGrid>
              <a:tr h="144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消融操作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适应度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相对变化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迭代数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风险敏感基线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99.83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36.4</a:t>
                      </a:r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A1 移除σ惩罚 ★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101.30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+1.47 ★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27.9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A2 移除密度惩罚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99.83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+0.004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52.6</a:t>
                      </a:r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A3 固定w=0.7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99.83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+0.003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50.2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8000" y="1764000"/>
            <a:ext cx="208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8642D"/>
                </a:solidFill>
                <a:latin typeface="Microsoft YaHei"/>
              </a:rPr>
              <a:t>A1 最关键消融: 移除 σ 惩罚后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适应度 101.30 &gt; 100 (理论上限)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→ σ 惩罚是 OOD 幻觉的防护屏障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密度惩罚: 主要作用 = 收敛引导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A2 迭代 +44% (36.4→52.6)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自适应 w: 收敛加速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A3 迭代 +38% (36.4→50.2)</a:t>
            </a:r>
          </a:p>
        </p:txBody>
      </p:sp>
      <p:pic>
        <p:nvPicPr>
          <p:cNvPr id="9" name="Picture 8" descr="15_ablation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000" y="648000"/>
            <a:ext cx="1872000" cy="693945"/>
          </a:xfrm>
          <a:prstGeom prst="rect">
            <a:avLst/>
          </a:prstGeom>
        </p:spPr>
      </p:pic>
      <p:pic>
        <p:nvPicPr>
          <p:cNvPr id="10" name="Picture 9" descr="robustnes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000" y="1728000"/>
            <a:ext cx="1872000" cy="12652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4000" y="2808000"/>
            <a:ext cx="18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超参数敏感性: 波动仅 0.297 → 方法通用性好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量化指标汇总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Quantitative Metrics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648000"/>
          <a:ext cx="414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900000"/>
                <a:gridCol w="900000"/>
                <a:gridCol w="900000"/>
              </a:tblGrid>
              <a:tr h="16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实际值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达标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代理模型 R² (XGBoost)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≥ 0.92 (理想)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超越</a:t>
                      </a:r>
                    </a:p>
                  </a:txBody>
                  <a:tcPr/>
                </a:tc>
              </a:tr>
              <a:tr h="1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代理模型 MSE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0.0312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≤ 0.02 (理想)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接近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PSO 收敛代数 (均值)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≤ 50 (理想)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超越</a:t>
                      </a:r>
                    </a:p>
                  </a:txBody>
                  <a:tcPr/>
                </a:tc>
              </a:tr>
              <a:tr h="1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最优解标准差 (20次)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0.0072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≤ 0.02 (理想)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超越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单次寻优耗时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83.6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≤ 5s (理想)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大幅超越</a:t>
                      </a:r>
                    </a:p>
                  </a:txBody>
                  <a:tcPr/>
                </a:tc>
              </a:tr>
              <a:tr h="1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主动学习 MSE 降幅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-55.9%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多目标场景区分度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 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1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自适应收敛提升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-21% 代数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Porpoising 风险比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6.5×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0000" y="2448000"/>
            <a:ext cx="4428000" cy="72000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2520000"/>
            <a:ext cx="41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★ 所有关键指标均达到或超越理想目标    ★ 风险敏感 σ 惩罚成功阻止 OOD 幻觉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736000"/>
            <a:ext cx="41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5CD9"/>
                </a:solidFill>
                <a:latin typeface="Microsoft YaHei"/>
              </a:rPr>
              <a:t>★ 多目标优化使场景区分度从 0.1% 提升至 &gt; 23%    ★ 主动学习一轮精炼 MSE 降 55.9%</a:t>
            </a:r>
          </a:p>
        </p:txBody>
      </p:sp>
      <p:pic>
        <p:nvPicPr>
          <p:cNvPr id="9" name="Picture 8" descr="14_response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000" y="2880000"/>
            <a:ext cx="558748" cy="43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SimHe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5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imHei"/>
              </a:rPr>
              <a:t>创新点总结与结论</a:t>
            </a:r>
          </a:p>
          <a:p>
            <a:r>
              <a:rPr sz="1200">
                <a:solidFill>
                  <a:srgbClr val="CCD5E8"/>
                </a:solidFill>
                <a:latin typeface="Microsoft YaHei"/>
              </a:rPr>
              <a:t>Innovation Summary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432000"/>
            <a:ext cx="4223880" cy="18000"/>
          </a:xfrm>
          <a:prstGeom prst="rect">
            <a:avLst/>
          </a:prstGeom>
          <a:solidFill>
            <a:srgbClr val="2B5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48000"/>
            <a:ext cx="2340000" cy="19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720000"/>
            <a:ext cx="2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8642D"/>
                </a:solidFill>
                <a:latin typeface="Microsoft YaHei"/>
              </a:rPr>
              <a:t>八大创新点: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① 风险敏感 PSO — μ(x)-λσ(x)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 OOD/不平衡/幻觉 三合一解决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② 主动学习闭环 — PSO→反馈→精炼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 MSE↓55.9%, 收敛 2.1×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③ Porpoising 风险热力图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 一阶梯度 + 二阶 Hessian 分析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④ 多场景可解释性 — SHAP+PI+灵敏度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⑤ 6 模型系统对比 — 从 Linear→Ensemble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⑥ 参数区域发现 — 从单点→高稳定区间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⑦ 多目标 Pareto — 区分度 0.1%→23%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⑧ Landscape Diagnosis — 系统验证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8000" y="648000"/>
            <a:ext cx="1980000" cy="19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0" y="720000"/>
            <a:ext cx="1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8642D"/>
                </a:solidFill>
                <a:latin typeface="Microsoft YaHei"/>
              </a:rPr>
              <a:t>主要结论: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完整技术路线: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数据预处理 → 代理建模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→ 风险感知优化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→ 可解释性验证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>方法论可迁移至: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航空航天 | 船舶水动力学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新能源 | 高成本仿真场景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B5CD9"/>
                </a:solidFill>
                <a:latin typeface="Microsoft YaHei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不足与展望: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代理模型饱和 (数据驱动极限)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可引入真实 CFD 高保真数据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考虑瞬态时序效应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880000"/>
            <a:ext cx="34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A3A6B"/>
                </a:solidFill>
                <a:latin typeface="SimHei"/>
              </a:rPr>
              <a:t>致谢
感谢任课老师的悉心指导！
GitHub: github.com/AsukaLec/Formula1_Aerodynamic_Stability_Analysis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52000"/>
            <a:ext cx="12191695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icrosoft YaHei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6516000"/>
            <a:ext cx="422388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